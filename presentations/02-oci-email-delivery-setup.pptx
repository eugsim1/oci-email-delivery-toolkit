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54b362c62a4044" /><Relationship Type="http://schemas.openxmlformats.org/officeDocument/2006/relationships/extended-properties" Target="/docProps/app.xml" Id="R6b35c0d8c1d94b4f" /><Relationship Type="http://schemas.openxmlformats.org/officeDocument/2006/relationships/officeDocument" Target="/ppt/presentation.xml" Id="Rd98733312ffb45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0ed1dde3b45b1"/>
  </p:sldMasterIdLst>
  <p:notesMasterIdLst>
    <p:notesMasterId xmlns:r="http://schemas.openxmlformats.org/officeDocument/2006/relationships" r:id="Re65a17e122b3438a"/>
  </p:notesMasterIdLst>
  <p:sldIdLst>
    <p:sldId xmlns:r="http://schemas.openxmlformats.org/officeDocument/2006/relationships" id="256" r:id="R6b9ef7b691bd4469"/>
    <p:sldId xmlns:r="http://schemas.openxmlformats.org/officeDocument/2006/relationships" id="257" r:id="Ra98e72dc96a647eb"/>
    <p:sldId xmlns:r="http://schemas.openxmlformats.org/officeDocument/2006/relationships" id="258" r:id="Rd2f6a546954c4c19"/>
    <p:sldId xmlns:r="http://schemas.openxmlformats.org/officeDocument/2006/relationships" id="259" r:id="R22ff96e5fbea4998"/>
    <p:sldId xmlns:r="http://schemas.openxmlformats.org/officeDocument/2006/relationships" id="260" r:id="R62e624b8fb41489c"/>
    <p:sldId xmlns:r="http://schemas.openxmlformats.org/officeDocument/2006/relationships" id="261" r:id="Rb8b22f79422d4f3d"/>
    <p:sldId xmlns:r="http://schemas.openxmlformats.org/officeDocument/2006/relationships" id="262" r:id="R6069b8d6d5ce48c4"/>
    <p:sldId xmlns:r="http://schemas.openxmlformats.org/officeDocument/2006/relationships" id="263" r:id="R3309e5d952cf4be8"/>
    <p:sldId xmlns:r="http://schemas.openxmlformats.org/officeDocument/2006/relationships" id="264" r:id="R326dc67672d44932"/>
    <p:sldId xmlns:r="http://schemas.openxmlformats.org/officeDocument/2006/relationships" id="265" r:id="Raae55492b79c4553"/>
    <p:sldId xmlns:r="http://schemas.openxmlformats.org/officeDocument/2006/relationships" id="266" r:id="Rc14da5404e944307"/>
    <p:sldId xmlns:r="http://schemas.openxmlformats.org/officeDocument/2006/relationships" id="267" r:id="Re6c6753a43184766"/>
    <p:sldId xmlns:r="http://schemas.openxmlformats.org/officeDocument/2006/relationships" id="268" r:id="R6ffe1fffa3eb47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4abea382c4593" /><Relationship Type="http://schemas.openxmlformats.org/officeDocument/2006/relationships/slideMaster" Target="/ppt/slideMasters/slideMaster1.xml" Id="R81c0ed1dde3b45b1" /><Relationship Type="http://schemas.openxmlformats.org/officeDocument/2006/relationships/notesMaster" Target="/ppt/notesMasters/notesMaster1.xml" Id="Re65a17e122b3438a" /><Relationship Type="http://schemas.openxmlformats.org/officeDocument/2006/relationships/presProps" Target="/ppt/presProps.xml" Id="Ra77192dbae6e428f" /><Relationship Type="http://schemas.openxmlformats.org/officeDocument/2006/relationships/tableStyles" Target="/ppt/tableStyles.xml" Id="R4b7e552679434fec" /><Relationship Type="http://schemas.openxmlformats.org/officeDocument/2006/relationships/slide" Target="/ppt/slides/slide1.xml" Id="R6b9ef7b691bd4469" /><Relationship Type="http://schemas.openxmlformats.org/officeDocument/2006/relationships/slide" Target="/ppt/slides/slide2.xml" Id="Ra98e72dc96a647eb" /><Relationship Type="http://schemas.openxmlformats.org/officeDocument/2006/relationships/slide" Target="/ppt/slides/slide3.xml" Id="Rd2f6a546954c4c19" /><Relationship Type="http://schemas.openxmlformats.org/officeDocument/2006/relationships/slide" Target="/ppt/slides/slide4.xml" Id="R22ff96e5fbea4998" /><Relationship Type="http://schemas.openxmlformats.org/officeDocument/2006/relationships/slide" Target="/ppt/slides/slide5.xml" Id="R62e624b8fb41489c" /><Relationship Type="http://schemas.openxmlformats.org/officeDocument/2006/relationships/slide" Target="/ppt/slides/slide6.xml" Id="Rb8b22f79422d4f3d" /><Relationship Type="http://schemas.openxmlformats.org/officeDocument/2006/relationships/slide" Target="/ppt/slides/slide7.xml" Id="R6069b8d6d5ce48c4" /><Relationship Type="http://schemas.openxmlformats.org/officeDocument/2006/relationships/slide" Target="/ppt/slides/slide8.xml" Id="R3309e5d952cf4be8" /><Relationship Type="http://schemas.openxmlformats.org/officeDocument/2006/relationships/slide" Target="/ppt/slides/slide9.xml" Id="R326dc67672d44932" /><Relationship Type="http://schemas.openxmlformats.org/officeDocument/2006/relationships/slide" Target="/ppt/slides/slide10.xml" Id="Raae55492b79c4553" /><Relationship Type="http://schemas.openxmlformats.org/officeDocument/2006/relationships/slide" Target="/ppt/slides/slide11.xml" Id="Rc14da5404e944307" /><Relationship Type="http://schemas.openxmlformats.org/officeDocument/2006/relationships/slide" Target="/ppt/slides/slide12.xml" Id="Re6c6753a43184766" /><Relationship Type="http://schemas.openxmlformats.org/officeDocument/2006/relationships/slide" Target="/ppt/slides/slide13.xml" Id="R6ffe1fffa3eb47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5a8cf313b8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ef808d7fcf4e7c" /><Relationship Type="http://schemas.openxmlformats.org/officeDocument/2006/relationships/notesMaster" Target="/ppt/notesMasters/notesMaster1.xml" Id="Re63f850cce4b42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f6f2232a34a98" /><Relationship Type="http://schemas.openxmlformats.org/officeDocument/2006/relationships/notesMaster" Target="/ppt/notesMasters/notesMaster1.xml" Id="R12e6aa6aa30a4a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ffa04328b74448" /><Relationship Type="http://schemas.openxmlformats.org/officeDocument/2006/relationships/notesMaster" Target="/ppt/notesMasters/notesMaster1.xml" Id="R70e34e2052bf46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a4c8e38e254b1c" /><Relationship Type="http://schemas.openxmlformats.org/officeDocument/2006/relationships/notesMaster" Target="/ppt/notesMasters/notesMaster1.xml" Id="R0935801fa2c54b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4099faf1734218" /><Relationship Type="http://schemas.openxmlformats.org/officeDocument/2006/relationships/notesMaster" Target="/ppt/notesMasters/notesMaster1.xml" Id="Rf5e31eb290b244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64e10792954082" /><Relationship Type="http://schemas.openxmlformats.org/officeDocument/2006/relationships/notesMaster" Target="/ppt/notesMasters/notesMaster1.xml" Id="R1ee69bf4d98943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ca89bcd754949" /><Relationship Type="http://schemas.openxmlformats.org/officeDocument/2006/relationships/notesMaster" Target="/ppt/notesMasters/notesMaster1.xml" Id="R11ca095b32e840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a36df676a8424e" /><Relationship Type="http://schemas.openxmlformats.org/officeDocument/2006/relationships/notesMaster" Target="/ppt/notesMasters/notesMaster1.xml" Id="Rf39eb9a684c04d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5873898de24098" /><Relationship Type="http://schemas.openxmlformats.org/officeDocument/2006/relationships/notesMaster" Target="/ppt/notesMasters/notesMaster1.xml" Id="R6798a6dc685d47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b1b840cd89468b" /><Relationship Type="http://schemas.openxmlformats.org/officeDocument/2006/relationships/notesMaster" Target="/ppt/notesMasters/notesMaster1.xml" Id="R516f4665bf6c4a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c2acae2d1f46e1" /><Relationship Type="http://schemas.openxmlformats.org/officeDocument/2006/relationships/notesMaster" Target="/ppt/notesMasters/notesMaster1.xml" Id="Rc9756aafff9244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a3af8791f04279" /><Relationship Type="http://schemas.openxmlformats.org/officeDocument/2006/relationships/notesMaster" Target="/ppt/notesMasters/notesMaster1.xml" Id="R4b4ce8f4cec84a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24e7c4bd5f40b5" /><Relationship Type="http://schemas.openxmlformats.org/officeDocument/2006/relationships/notesMaster" Target="/ppt/notesMasters/notesMaster1.xml" Id="R541e617070e948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https://docs.oracle.com/en-us/iaas/Content/Email/Tasks/configureemaildomains.htm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  <a:p xmlns:a="http://schemas.openxmlformats.org/drawingml/2006/main">
            <a:r>
              <a:t>https://docs.oracle.com/en-us/iaas/Content/General/service-limits/default.htm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https://docs.oracle.com/en-us/iaas/Content/Identity/access/working-with-smtp-credentials.htm</a:t>
            </a:r>
          </a:p>
          <a:p xmlns:a="http://schemas.openxmlformats.org/drawingml/2006/main">
            <a:r>
              <a:t>https://docs.oracle.com/en-us/iaas/Content/Email/Reference/gettingstarted.htm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https://docs.oracle.com/en-us/iaas/Content/Email/Reference/gettingstarted_topic-create-policy.htm</a:t>
            </a:r>
          </a:p>
          <a:p xmlns:a="http://schemas.openxmlformats.org/drawingml/2006/main">
            <a:r>
              <a:t>https://docs.oracle.com/en-us/iaas/Content/Identity/policyreference/emailpolicyreference.htm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https://docs.oracle.com/en-us/iaas/Content/Identity/access/working-with-smtp-credentials.htm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https://docs.oracle.com/en-us/iaas/Content/Email/Tasks/configureemaildomains.htm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https://docs.oracle.com/en-us/iaas/Content/Email/Reference/guide-to-metrics-logs.htm</a:t>
            </a:r>
          </a:p>
          <a:p xmlns:a="http://schemas.openxmlformats.org/drawingml/2006/main">
            <a:r>
              <a:t>https://docs.oracle.com/en-us/iaas/Content/Email/Reference/log-guide.htm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https://docs.oracle.com/en-us/iaas/Content/Email/Tasks/configurespf.htm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https://docs.oracle.com/en-us/iaas/Content/Email/Tasks/managing_dkim-setup_email_domain_with_dkim.htm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https://docs.oracle.com/en-us/iaas/Content/Email/Reference/gettingstarted_topic-Create_an_approved_sender.htm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https://docs.oracle.com/en-us/iaas/Content/Email/Reference/gettingstarted_topic-Configure_the_SMTP_connection.htm</a:t>
            </a:r>
          </a:p>
          <a:p xmlns:a="http://schemas.openxmlformats.org/drawingml/2006/main">
            <a:r>
              <a:t>https://docs.oracle.com/en-us/iaas/Content/Email/Concepts/overview.htm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https://docs.oracle.com/en-us/iaas/Content/Email/Reference/guide-to-metrics-logs.htm</a:t>
            </a:r>
          </a:p>
          <a:p xmlns:a="http://schemas.openxmlformats.org/drawingml/2006/main">
            <a:r>
              <a:t>https://docs.oracle.com/en-us/iaas/Content/Email/Reference/deliverabilitybestpractices_topic-bestpractices.htm</a:t>
            </a:r>
          </a:p>
          <a:p xmlns:a="http://schemas.openxmlformats.org/drawingml/2006/main">
            <a:r>
              <a:t>https://docs.oracle.com/en-us/iaas/Content/General/service-limits/default.htm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b6deb8e81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9768afbfed4f7d" /><Relationship Type="http://schemas.openxmlformats.org/officeDocument/2006/relationships/slideLayout" Target="/ppt/slideLayouts/slideLayout1.xml" Id="R669983d96e5349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9983d96e5349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ecdc069d94904" /><Relationship Type="http://schemas.openxmlformats.org/officeDocument/2006/relationships/image" Target="/ppt/media/image.png" Id="R03129445cb6a4cfb" /><Relationship Type="http://schemas.openxmlformats.org/officeDocument/2006/relationships/notesSlide" Target="/ppt/notesSlides/notesSlide1.xml" Id="R70f22db7e0c74d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e3a02b1564118" /><Relationship Type="http://schemas.openxmlformats.org/officeDocument/2006/relationships/notesSlide" Target="/ppt/notesSlides/notesSlide2.xml" Id="R027e89701ee448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724e46d2340a9" /><Relationship Type="http://schemas.openxmlformats.org/officeDocument/2006/relationships/notesSlide" Target="/ppt/notesSlides/notesSlide3.xml" Id="Rc4fa8cec2f1e47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a07a6ecb84402" /><Relationship Type="http://schemas.openxmlformats.org/officeDocument/2006/relationships/notesSlide" Target="/ppt/notesSlides/notesSlide4.xml" Id="Re36306496ca4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d7a2296694428" /><Relationship Type="http://schemas.openxmlformats.org/officeDocument/2006/relationships/notesSlide" Target="/ppt/notesSlides/notesSlide5.xml" Id="R7d0088658cd346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54138c2054ff2" /><Relationship Type="http://schemas.openxmlformats.org/officeDocument/2006/relationships/notesSlide" Target="/ppt/notesSlides/notesSlide6.xml" Id="Rb960990382174c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cde4dd0d74805" /><Relationship Type="http://schemas.openxmlformats.org/officeDocument/2006/relationships/notesSlide" Target="/ppt/notesSlides/notesSlide7.xml" Id="R00b4178bb1ad4e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da0325b4d411f" /><Relationship Type="http://schemas.openxmlformats.org/officeDocument/2006/relationships/notesSlide" Target="/ppt/notesSlides/notesSlide8.xml" Id="Rcecb804236c849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09e5f3b0f430b" /><Relationship Type="http://schemas.openxmlformats.org/officeDocument/2006/relationships/notesSlide" Target="/ppt/notesSlides/notesSlide9.xml" Id="Rf1c5643c7de747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4b9aa48a1401a" /><Relationship Type="http://schemas.openxmlformats.org/officeDocument/2006/relationships/notesSlide" Target="/ppt/notesSlides/notesSlide10.xml" Id="R55e63d0c317044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6fe9b13c14fd0" /><Relationship Type="http://schemas.openxmlformats.org/officeDocument/2006/relationships/notesSlide" Target="/ppt/notesSlides/notesSlide11.xml" Id="Rb31a2e333a1642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9c8aa2d8243c8" /><Relationship Type="http://schemas.openxmlformats.org/officeDocument/2006/relationships/notesSlide" Target="/ppt/notesSlides/notesSlide12.xml" Id="R7424dddb877648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040cf20764655" /><Relationship Type="http://schemas.openxmlformats.org/officeDocument/2006/relationships/notesSlide" Target="/ppt/notesSlides/notesSlide13.xml" Id="R70ade400c8d640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29445cb6a4cf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0FFC9-BE8B-43C7-ADA4-4DAC2397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9A164-521E-4B72-956D-9F8C998F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C5C4-69DF-423B-BA97-B8A3CE76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810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0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09E"/>
                </a:solidFill>
                <a:latin typeface="Arial"/>
                <a:ea typeface="Arial"/>
                <a:cs typeface="Arial"/>
              </a:rPr>
              <a:t>OCI EMAIL DELIVERY ·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8A941-6691-4A73-851B-2DEF721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walkthrough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32701-0A72-4FC9-8A94-374C2266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8E2D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8E2DE"/>
                </a:solidFill>
                <a:latin typeface="Arial"/>
                <a:ea typeface="Arial"/>
                <a:cs typeface="Arial"/>
              </a:rPr>
              <a:t>IAM, credentials, domain authentication, approved senders, TLS, and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FFA52-2AA5-4C2D-8D89-E6AF7E64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EB6B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EB6B0"/>
                </a:solidFill>
                <a:latin typeface="Arial"/>
                <a:ea typeface="Arial"/>
                <a:cs typeface="Arial"/>
              </a:rPr>
              <a:t>Technical training series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0534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7F8E65-5CDC-49E2-B008-695C85E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136DD-41FE-4431-A536-428CED58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Configuration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4B7F6-FEB7-4800-A5E4-C060F686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A002A-C188-4E99-9AD5-5A4347CF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555750" cy="20478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0194F-BA0D-4EC8-B799-FDC8A45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31073-DAB7-4EFF-8DD7-2D38018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1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CDA46-6AEA-40A4-8341-CE439895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121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Groups, service user, policies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012E3-23E9-4B67-ABEA-B58B3B8A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90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EC8D9-CCE4-404A-86D3-9341BC7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2238375"/>
            <a:ext cx="1555750" cy="20478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7F543-8A30-4CC3-A2E5-893A6E68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9BB0D-4FBE-4EA2-A980-F6C8CC28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2857500"/>
            <a:ext cx="121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Credential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483AB-59E3-4F66-AF84-694B5FB8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3448050"/>
            <a:ext cx="121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Generate and store SMTP secret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92792-9587-4B9F-B25E-067C299E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5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896F5-B73E-4DDE-B938-3B5208E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238375"/>
            <a:ext cx="1555750" cy="20478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40FEC-F795-464F-8BF9-FFDD36FE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794DA-708E-4327-B226-4F2A9625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857500"/>
            <a:ext cx="121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73508-CB26-40D1-90DB-37CD5B2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448050"/>
            <a:ext cx="121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Create domain and enable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8020-2D88-41B1-A2F4-48CFB9F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F664C-AA6E-4E40-83B4-9842F93A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1555750" cy="20478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C74634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3E969-84FA-4433-8B01-AA284E52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46589-2E34-4E79-9903-65B7B036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121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59383-E12A-4C92-B253-818FEA72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121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2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2EE"/>
                </a:solidFill>
                <a:latin typeface="Arial"/>
                <a:ea typeface="Arial"/>
                <a:cs typeface="Arial"/>
              </a:rPr>
              <a:t>Publish SPF and DKIM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D1AE1-864A-4B04-BDDD-D11F91D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95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D6B0B-51F6-4C68-A921-027721DE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450" y="2238375"/>
            <a:ext cx="1555750" cy="20478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9883E-BBBE-4D59-A58A-04ACCE4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7448DF-07DE-4C38-9CA2-755BCAD6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857500"/>
            <a:ext cx="121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Sender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7F6F4-1795-4B3D-AA93-3B84B49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448050"/>
            <a:ext cx="121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Approve From and configure TLS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D05EB-5466-4826-A48F-77DE26C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0" y="3143250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6A3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F2B76-8128-4BB1-A78B-DD3E8353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00" y="2238375"/>
            <a:ext cx="1555750" cy="204787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735B29-A552-43F9-9E2C-5D95EF6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6750E-F6FB-4497-9C79-62795E2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2857500"/>
            <a:ext cx="121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33554C-573A-4B23-8BEA-1D2491AC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448050"/>
            <a:ext cx="121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Send, inspect logs, check headers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FF585-101F-485C-8A0F-3DB98D89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Keep the same region selected from domain creation through approved sender, endpoint configuration, logs, and testing.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63F83D-278F-4EC6-836B-7A256531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C42F7A-14B2-4FB8-A019-4656519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6169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0CB8F-C78D-4A69-90F9-BC43007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A376D-7152-40F0-B7D7-6D90B82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Plan the sending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D103A-42E3-466B-BC39-DBC1E370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84856-0188-4B94-B59D-90B3B86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93B50-D1FC-476D-93AB-57548C85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Region and sending boundary recorded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579AD-9C06-4371-B409-DC9C0F4E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F948B-218E-45FE-8D4B-3503070F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 the OCI region that will accept submissions and host Email Delivery resources.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 or select a non-root compartment for email domains and approved senders.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 a public DNS domain controlled by the organization; public mailbox-provider domains are not eligible.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Record expected recipients per day, burst rate, and encoded message size.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Name owners for DNS, IAM, secrets, deliverability, and suppression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7349D-9B3B-48C0-9B44-198F07CF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D19C4-E94B-4E64-87C2-9A113334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0939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1931C-26F8-4FE7-8380-53594AB8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F3014-C922-4D26-A767-E88191C3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 IAM groups and a service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7FC89-EC3C-44FE-BD05-FD67D515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90062-2CEA-43C0-97FC-DDD36695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C400F-B620-4437-B340-D7E3D8A1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Dedicated service identity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8BD2E-53B1-4285-A4E0-F1B0BC84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42ABC-8E2B-4853-9318-7BFD85B1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 Identity &amp; Security and select the identity domain used by the application.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 separate administrator and runtime-sender groups.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 a dedicated user such as svc-email-prod and add it only to the sender group.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Confirm that Can use SMTP credentials is enabled for the service user.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Avoid a Console password and broad administrative grants unless another requirement needs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38525-74A1-4C1C-A56E-BC03703F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BAF15-6F99-4EA9-8CAB-C45F3F0C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0849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4C30D-447F-4976-BC4E-F44F8F78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7A9B9-EC72-4D77-B70D-B17BDF0D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Apply IAM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89A3E-4654-4196-8745-D9D69310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C9CDF-81C4-4767-A78A-C05C8F72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53CAB-5036-4267-8ED7-03F1F78C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Sender and admin permissions applied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9EC85-EFBD-45E8-9E89-F610775D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3AE2F-2A4B-4AD9-8AC3-8E9C3DFD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Grant the runtime group use email-family in the Email Delivery compartment.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Grant the administrator group manage email-family in that compartment.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Grant suppression management at tenancy scope.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Grant log-group management and log-content read access where logs reside.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Include the identity-domain name when the group is outside the Default domain.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9655F-6A08-4736-8E45-AFD59083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86250"/>
            <a:ext cx="8001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258E8-565B-41E0-9EDB-2A882784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7572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Allow group 'Default'/'oci-email-senders' to use email-family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in compartment EmailPlatform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Allow group 'Default'/'oci-email-admins' to manage suppressions in tenancy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E8C59-D166-41AB-BC85-399BE7C4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D970F-7B71-4722-8134-EE11B309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5965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FE624-1527-44E6-B7C1-01952F2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DD547-3FA7-4AD2-8FEA-A5E7419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Generate SMTP credentials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F70E1-D0FB-4297-A482-0B6DEF6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52FED-4E43-4C02-A6F0-0DE01D47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8CC46-DF95-4BF8-9188-BCE112E0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SMTP credentials stored securely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49241-7CAF-4B22-92DA-FECE4D2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8981C-9B44-4A32-97AA-FB5CD21D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 the dedicated IAM user's SMTP Credentials resource.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Select Generate SMTP Credentials and enter an auditable description.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Copy the username and password immediately; the password cannot be retrieved later.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Store the pair in a secret manager, not in source code or a committed .env file.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Remember the limit of two SMTP credentials per IAM user.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8F7E5-59B0-440B-AD8F-D1D7BC80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1224F-CB5A-4D5D-88F1-5996B449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4346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07466-955A-468A-8931-A4B84E4C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A6479-7E3B-43B9-AA90-BA69E3E8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 the email domain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A8FC-C581-432A-81D0-AA48C3F8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1C521-49DE-47B4-A488-F373A730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32F33-C397-40BD-8FA6-AF6AA91C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Regional email domain created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F95A8-280E-4CD3-A803-8EC1CCF3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543A5-A13A-419C-9304-FA61977E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Select the sending region before opening Email Delivery.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 Developer Services, Application Integration, Email Delivery, then Email Domains.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Select the target compartment and choose Create Email Domain.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Enter the domain used after @ in the From address.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Add governance tags and record the domain OCID.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A70BB-8200-458E-94D1-DC762C4D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9CB81-9331-4D4D-B2D2-53BBA492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4757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2226E-24DF-49B5-9F6A-58690A58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ED9F2-A9B0-4259-9C50-D5B38341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Enable logs before the first send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661F9-D2E2-4F8A-8B5B-2E72C04F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2AA50-1909-4E88-850E-12BD4F38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AA937-0219-4892-9290-666D6111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Acceptance and relay logs searchable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E6398-CB24-4462-BCA3-61DF87C8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469A3-6FAB-439C-9B7F-C7253357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 the email domain's Logs page or the deliverability dashboard.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Enable OutboundAccepted for submission success, rejection, and suppressed-recipient events.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Enable OutboundRelayed for delivery, bounce, complaint, unsubscribe, open, and click events.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 the log group and retention policy.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Confirm operators can read log content.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A7FBC-28DD-48C2-AAC4-317753E0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FA7FF-5DE4-47B5-8058-BBCCF4B9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5911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4392F-29C3-41D6-B7D0-CB57DA33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F0089-6EF1-46EE-830F-C4D4392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Publish SPF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F2C0C-2D96-4F4C-BC45-D7476D06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B2A43-65BE-46BF-92D2-B78D70D4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7193F-BF69-4620-A43C-95550A9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SPF published and 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EBDB7-74C6-4234-9D2D-BEDD6B82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6ECF0-2E02-408F-8CC3-0365012C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Inspect existing TXT records before changing DNS.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Add the correct Oracle include for the sending geography to the single SPF record.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For Europe use include:eu.rp.oracleemaildelivery.com.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Do not publish two independent SPF records at the same name.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Verify the public result with dig or nslookup after propagation.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2B9BA-3614-4F91-B343-EC5F6ADC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86250"/>
            <a:ext cx="8001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7B1C1-8F07-4B06-9046-8B5D5C9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7572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Europe</a:t>
            </a:r>
          </a:p>
          <a:p xmlns:a="http://schemas.openxmlformats.org/drawingml/2006/main">
            <a:pPr>
              <a:defRPr sz="11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v=spf1 include:eu.rp.oracleemaildelivery.com ~all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All commercial regions</a:t>
            </a:r>
          </a:p>
          <a:p xmlns:a="http://schemas.openxmlformats.org/drawingml/2006/main">
            <a:pPr>
              <a:defRPr sz="11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v=spf1 include:rp.oracleemaildelivery.com include:ap.rp.oracleemaildelivery.com</a:t>
            </a:r>
          </a:p>
          <a:p xmlns:a="http://schemas.openxmlformats.org/drawingml/2006/main">
            <a:pPr>
              <a:defRPr sz="1125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  include:eu.rp.oracleemaildelivery.com ~all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E4281-65C0-4BE9-8FD4-671C6D06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85326-2448-4DCD-B84A-C114A0DB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4783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4C037-F371-4304-820D-A516807C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4A935-8D73-4EF4-9704-0785EA50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Activate DKIM signing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05E6F-5406-4A5B-AFEF-5FF7F7FF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41D90-D0CE-480A-ABCF-58604331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8A674-33D3-4692-B176-F6375445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DKIM active for the sending 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F615-B532-4BF2-A1E0-936DF4A1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27F4D-B280-40C4-8C41-74010DB6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 the email domain's DKIM resource and add a selector.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a selector name that supports future rotation, such as oci2026a.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Publish the OCI-provided DNS record name and target exactly.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Wait for DNS propagation and an active signing state in OCI.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After a test, inspect the message for DKIM-Signature and a passing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8536A-99D8-47A4-A9FB-D7836151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55A09-B993-4D0D-A28D-E749474D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34946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08AF3-8EC1-41F0-9968-AC947F02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E6F50-F5BB-40B2-B6DA-0579D11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 the approved sender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230D4-2C63-441C-85B6-25B4B5EB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416A1-92AC-435E-BBE9-4F95AE64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D0FDC-A6B0-4B02-94A3-73F17D44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From address approved in the region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1B392-1317-477C-B4CE-C2EE1835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DCA2D-31A3-45B5-86F2-53D3E276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Keep the Console in the same region as the email domain and endpoint.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 Approved Senders and select the non-root compartment.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 the exact address, such as no-reply@mail.example.com.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To approve an entire domain, first activate DKIM and then create @mail.example.com.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Keep the envelope sender aligned with the visible From address.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EBCA2-C5B4-4367-B1C8-8D240FBA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17D13-2DAA-4F06-B64C-37AA3607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9768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AD9CA-DBA5-4A29-98BD-055C9D0E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STEP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551E4-A268-4A25-9221-C221C618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Configure the SMTP endpoint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9193F-0C30-4ECD-99A2-6509DE23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E9B37-0EFA-4D77-BBA4-A83EC541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4D1C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4D1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A9DFD-4FD2-43A6-B986-2773EFC2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Encrypted connection to the regional endpoint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927F3-1DCC-4387-B42D-00B5D5F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96B94-D236-4614-8202-A850043E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95450"/>
            <a:ext cx="8001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 Email Delivery, then Configuration, in the sending region.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Copy the public SMTP endpoint shown by the Console.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port 465 with implicit TLS according to current Oracle documentation.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Set the TLS server name to the endpoint hostname and keep certificate verification enabled.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6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1717"/>
                </a:solidFill>
                <a:latin typeface="Arial"/>
                <a:ea typeface="Arial"/>
                <a:cs typeface="Arial"/>
              </a:rPr>
              <a:t>Authenticate with the generated SMTP username and password using AUTH PLAIN inside TLS.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9C36C-64E2-4FFB-B8C2-F80ED314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86250"/>
            <a:ext cx="8001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4444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DDB0B-1830-489B-A81D-717517DD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7572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OCI_SMTP_HOST=smtp.email.eu-frankfurt-1.oci.oraclecloud.com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OCI_SMTP_PORT=465</a:t>
            </a:r>
          </a:p>
          <a:p xmlns:a="http://schemas.openxmlformats.org/drawingml/2006/main">
            <a:pPr>
              <a:defRPr sz="1200" b="0">
                <a:solidFill>
                  <a:srgbClr val="FF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7F3"/>
                </a:solidFill>
                <a:latin typeface="Arial"/>
                <a:ea typeface="Arial"/>
                <a:cs typeface="Arial"/>
              </a:rPr>
              <a:t>OCI_SMTP_MODE=tls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366CB-B40F-4AAD-9297-02B0986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F98DF-D8F2-4AA9-908C-D8398667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03416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D69FF-6243-42D9-9CF4-78CAD2D7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09F72-D9C0-4CC7-A959-D586FCDA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First send and go-live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5ED14-6944-42DA-A58C-1F48C02F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7BEB3-AF51-4D08-8A24-872E1AA3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SUBMISSION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7F1E5-D8A9-452E-85A5-A4487ACA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053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Send to a controlled mailbox with the included Go client.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Treat SMTP 250 as service acceptance, not proof of inbox placement.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Locate OutboundAccepted and then OutboundRelayed logs.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Inspect destination headers for SPF, DKIM, and DMARC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ED683-E750-4B90-A96D-7D82E06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8D556-A6C1-4C95-A88E-0209DCD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C95"/>
                </a:solidFill>
                <a:latin typeface="Arial"/>
                <a:ea typeface="Arial"/>
                <a:cs typeface="Arial"/>
              </a:rPr>
              <a:t>BEFORE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7671D-BD36-4E79-9791-53A86CFE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Confirm limits for recipients, encoded size, and burst rate.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Set alarms for bounce, complaint, suppression, and unexpected volume.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Document retry behavior and suppression ownership.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717"/>
                </a:solidFill>
                <a:latin typeface="Arial"/>
                <a:ea typeface="Arial"/>
                <a:cs typeface="Arial"/>
              </a:rPr>
              <a:t>Schedule credential rotation and preserve the second credential slot.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CA1E0-C42B-4F4C-922E-FEA245D8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44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11CFA-F0AD-44BF-92E8-BC42001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Begin with low-volume tests and increase traffic gradually while watching reputation signals.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24CA2-42D6-4B35-A713-933D215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5E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5E5E"/>
                </a:solidFill>
                <a:latin typeface="Arial"/>
                <a:ea typeface="Arial"/>
                <a:cs typeface="Arial"/>
              </a:rPr>
              <a:t>OCI Email Delivery ·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C9F9E-75CB-4B00-8B6F-2F164DDD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071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2026-09-22T12:09:00.3040000Z</dcterms:created>
  <dcterms:modified xsi:type="dcterms:W3CDTF">2026-09-22T12:09:00.3040000Z</dcterms:modified>
</coreProperties>
</file>